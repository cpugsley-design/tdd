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B8B51-D136-472B-B0A5-B89520127770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D40B5-294B-4CA0-907B-24B7007FC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7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C9829D-2368-1144-B18D-E37C157AE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8" b="36770"/>
          <a:stretch>
            <a:fillRect/>
          </a:stretch>
        </p:blipFill>
        <p:spPr>
          <a:xfrm>
            <a:off x="0" y="2419349"/>
            <a:ext cx="12192000" cy="4438651"/>
          </a:xfrm>
          <a:prstGeom prst="rect">
            <a:avLst/>
          </a:prstGeom>
          <a:noFill/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C3F72A7-1FAD-AAD6-1DC2-CF67A56F950B}"/>
              </a:ext>
            </a:extLst>
          </p:cNvPr>
          <p:cNvSpPr txBox="1">
            <a:spLocks/>
          </p:cNvSpPr>
          <p:nvPr userDrawn="1"/>
        </p:nvSpPr>
        <p:spPr>
          <a:xfrm>
            <a:off x="3109136" y="1352753"/>
            <a:ext cx="5973725" cy="92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/>
              <a:t>Conor Pugsley</a:t>
            </a:r>
          </a:p>
          <a:p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700" dirty="0"/>
              <a:t>Department of Chemical and Biological Engineering</a:t>
            </a:r>
          </a:p>
          <a:p>
            <a:pPr>
              <a:spcAft>
                <a:spcPts val="600"/>
              </a:spcAft>
            </a:pPr>
            <a:r>
              <a:rPr lang="en-US" sz="1700" dirty="0"/>
              <a:t>BioFrontiers Institute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F0A13A-870D-C016-9317-6CC7C4F986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352" y="300573"/>
            <a:ext cx="10611292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000"/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5280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590AC6-D59C-5AEE-FC0B-41922BC1984A}"/>
              </a:ext>
            </a:extLst>
          </p:cNvPr>
          <p:cNvSpPr/>
          <p:nvPr userDrawn="1"/>
        </p:nvSpPr>
        <p:spPr>
          <a:xfrm>
            <a:off x="0" y="6090249"/>
            <a:ext cx="12192000" cy="76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2DFFE-864A-4A12-DF42-753D1C83E9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30" y="6236627"/>
            <a:ext cx="2345528" cy="4749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985ECF-B3F4-4BE2-3F92-609D2F9426AD}"/>
              </a:ext>
            </a:extLst>
          </p:cNvPr>
          <p:cNvSpPr txBox="1"/>
          <p:nvPr userDrawn="1"/>
        </p:nvSpPr>
        <p:spPr>
          <a:xfrm>
            <a:off x="11130949" y="6289458"/>
            <a:ext cx="888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795A287-42DE-4C92-B643-00D0A47EFB5D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B99A2A-1565-19DE-191B-8849A3992101}"/>
              </a:ext>
            </a:extLst>
          </p:cNvPr>
          <p:cNvCxnSpPr>
            <a:cxnSpLocks/>
          </p:cNvCxnSpPr>
          <p:nvPr userDrawn="1"/>
        </p:nvCxnSpPr>
        <p:spPr>
          <a:xfrm>
            <a:off x="560717" y="688662"/>
            <a:ext cx="110705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A132797-3BD9-1917-6899-B1DF2B11E6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716" y="61251"/>
            <a:ext cx="11070565" cy="554222"/>
          </a:xfrm>
          <a:prstGeom prst="rect">
            <a:avLst/>
          </a:prstGeom>
        </p:spPr>
        <p:txBody>
          <a:bodyPr anchor="ctr"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646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nowy Landscap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22658-99B8-1027-75FF-0CF5DF3082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7" b="36762"/>
          <a:stretch>
            <a:fillRect/>
          </a:stretch>
        </p:blipFill>
        <p:spPr>
          <a:xfrm>
            <a:off x="-1" y="2419349"/>
            <a:ext cx="12192000" cy="443865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2F56C7-3D61-6467-0ABF-1FEC671FA65F}"/>
              </a:ext>
            </a:extLst>
          </p:cNvPr>
          <p:cNvSpPr txBox="1">
            <a:spLocks/>
          </p:cNvSpPr>
          <p:nvPr userDrawn="1"/>
        </p:nvSpPr>
        <p:spPr>
          <a:xfrm>
            <a:off x="3109136" y="1352753"/>
            <a:ext cx="5973725" cy="92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/>
              <a:t>Conor Pugsley</a:t>
            </a:r>
          </a:p>
          <a:p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700" dirty="0"/>
              <a:t>CSCI 6118 – Assignment 5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16D7392B-528C-7D2B-89B8-93AB19CA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352" y="300573"/>
            <a:ext cx="10611292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000"/>
            </a:lvl1pPr>
          </a:lstStyle>
          <a:p>
            <a:pPr lvl="0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7775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38B9-6900-1338-5472-CF5EC0FC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D09E3-4C33-6E07-8CFA-3377A910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02D4-BE18-062B-D629-1607EF0F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E19BD-3937-85C8-5683-20973D67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B1D3-5503-0FAC-FEF7-486600EC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1B74-1A97-5F80-74C6-62D34018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22B8-657E-3C3B-D960-9C8FCE80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A4204-6BCE-0669-2914-A79E3599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FAE8B-63CF-9325-8C61-47ECEF4C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96537-0F38-16D0-5508-5B2E76C5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0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9490-B985-D439-BA55-626B13E6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F97F-12D1-A247-EB33-E7A0D0341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51767-C0EF-357B-CEB7-1DBCA3A42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AD018-07EC-47E3-81F3-451FD2E7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9535-0803-F123-744A-21CE7329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473A0-C591-B2F5-91EB-9D308312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99B5-E15F-CE7C-0C1F-7A8A768A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F089-659D-28BD-0224-73E0E5D4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55B8E-91DB-0B18-CA0E-CD59022E0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950C3-D4A3-7288-BD39-E70038BDB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084F5-CFB6-4DE3-4A19-FD2D96653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99424-F096-6DA7-8178-10FA874C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9CF05-A1C9-D071-3297-474DBDED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BBAF1-9D87-8CD9-5F54-2151BE7F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3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58FF-5000-9A18-E35C-DA94298E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36800-3132-FE46-3E0B-8097CEE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9A287-F1D3-55D0-1C27-F684B369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C7B01-6C27-DF5A-FCB5-0B48D63A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93AC-4E8A-1420-5A5C-FDAFECDF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42605-7AC9-217F-242E-4095B513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B0B68-2D47-231B-4F29-99C01922D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7B944-40C3-188D-4B4B-5F220EDC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7E687-C3E1-6D97-1282-5536785F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D6186-A8D7-9055-B476-ED254C67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9257-4F39-88AE-3087-C3A911F7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E5087-403C-6BA1-F43C-323AD3E01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B6E1E-C946-DF40-1F25-A17E19CBE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E6DC7-0DEF-9188-7A0F-76897DC93D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51CE-53DA-03F1-5C49-AF097273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D358E-FA6C-37AA-80FC-06C700D7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0370-9913-A8A7-4A9C-11D65BA0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44163-2DE3-E5A0-1A8E-DACFB56D7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A187A-E2AE-6C29-19E8-F0A041DC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549A-29AB-ABD0-007E-B1F4A1A7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20286-B761-D997-5767-463CF197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9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1BB76-65A7-7C72-BD21-630163CF3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D9953-6FB9-288A-D9B2-07DC55390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97BD6-34D2-84AF-DA1E-11984F13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9B936-7936-4B49-B5B6-5E7FD8845B4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DFD3-2456-B3A2-18AB-BBD085A7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B182B-F61D-866E-9DC8-42DCA6D0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B1B199-3FDE-49D6-B52D-E7708832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9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4D9D3-4291-FFEB-9ECF-703A085C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6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1132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271CDB-566A-B522-FDB8-260C420B0C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Investigating the role of fires on GDP</a:t>
            </a:r>
          </a:p>
        </p:txBody>
      </p:sp>
    </p:spTree>
    <p:extLst>
      <p:ext uri="{BB962C8B-B14F-4D97-AF65-F5344CB8AC3E}">
        <p14:creationId xmlns:p14="http://schemas.microsoft.com/office/powerpoint/2010/main" val="161115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97C7-6ADB-A673-8472-3543CCDB7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Introduction: How do number of fires scale with a country’s GDP?</a:t>
            </a:r>
          </a:p>
        </p:txBody>
      </p:sp>
      <p:pic>
        <p:nvPicPr>
          <p:cNvPr id="5" name="Picture 4" descr="Usa map outline Images - Free Download on Magnific (formerly ...">
            <a:extLst>
              <a:ext uri="{FF2B5EF4-FFF2-40B4-BE49-F238E27FC236}">
                <a16:creationId xmlns:a16="http://schemas.microsoft.com/office/drawing/2014/main" id="{CFA3B9F5-5A45-CFAD-A473-809A0A7E0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9" y="1672780"/>
            <a:ext cx="3512439" cy="35124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B882D1-0FDD-4A58-7B35-A84EA5542C2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381118" y="3428998"/>
            <a:ext cx="248602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2131404-FA0B-1880-7C31-DFC6DABBF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103" y="1930546"/>
            <a:ext cx="4022218" cy="29969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9F84CD-9CDE-0000-16D8-1607A5EB8F7E}"/>
              </a:ext>
            </a:extLst>
          </p:cNvPr>
          <p:cNvSpPr txBox="1"/>
          <p:nvPr/>
        </p:nvSpPr>
        <p:spPr>
          <a:xfrm>
            <a:off x="3717607" y="949844"/>
            <a:ext cx="3813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Fire-related emissions by country are compared to GDP by year</a:t>
            </a:r>
          </a:p>
        </p:txBody>
      </p:sp>
    </p:spTree>
    <p:extLst>
      <p:ext uri="{BB962C8B-B14F-4D97-AF65-F5344CB8AC3E}">
        <p14:creationId xmlns:p14="http://schemas.microsoft.com/office/powerpoint/2010/main" val="373164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95AC53-53D4-CF0E-FA35-29799FE7AD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Results: A case study of Argentina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CCDFA-2776-620A-BB00-5C2A95D2E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510" y="1290822"/>
            <a:ext cx="5727204" cy="4276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9D02C2-CBCD-DEB2-36CE-5E4A60247FD5}"/>
              </a:ext>
            </a:extLst>
          </p:cNvPr>
          <p:cNvSpPr txBox="1"/>
          <p:nvPr/>
        </p:nvSpPr>
        <p:spPr>
          <a:xfrm>
            <a:off x="667512" y="2468880"/>
            <a:ext cx="4297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Aside from a few outliers, it seems like there is an exponentially decreasing trend in forest-fire emissions with GDP.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C83B05-C9BD-3247-A568-08C6100F34FF}"/>
              </a:ext>
            </a:extLst>
          </p:cNvPr>
          <p:cNvSpPr/>
          <p:nvPr/>
        </p:nvSpPr>
        <p:spPr>
          <a:xfrm>
            <a:off x="6547104" y="2185416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014691-0320-6CEC-9F67-0E111F5F569C}"/>
              </a:ext>
            </a:extLst>
          </p:cNvPr>
          <p:cNvSpPr/>
          <p:nvPr/>
        </p:nvSpPr>
        <p:spPr>
          <a:xfrm>
            <a:off x="7778496" y="2987040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FC663A-5F7F-9E86-AD5C-2C8B4C61D65E}"/>
              </a:ext>
            </a:extLst>
          </p:cNvPr>
          <p:cNvSpPr/>
          <p:nvPr/>
        </p:nvSpPr>
        <p:spPr>
          <a:xfrm>
            <a:off x="10582656" y="1621536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400E8-8137-61AA-FA8C-0C209F7B8AF1}"/>
              </a:ext>
            </a:extLst>
          </p:cNvPr>
          <p:cNvSpPr txBox="1"/>
          <p:nvPr/>
        </p:nvSpPr>
        <p:spPr>
          <a:xfrm>
            <a:off x="9764274" y="2734587"/>
            <a:ext cx="123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Predicted outliers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4287E6B-C903-ED29-7565-16033D6D8760}"/>
              </a:ext>
            </a:extLst>
          </p:cNvPr>
          <p:cNvSpPr/>
          <p:nvPr/>
        </p:nvSpPr>
        <p:spPr>
          <a:xfrm>
            <a:off x="6199634" y="3264408"/>
            <a:ext cx="4389120" cy="1517455"/>
          </a:xfrm>
          <a:custGeom>
            <a:avLst/>
            <a:gdLst>
              <a:gd name="csX0" fmla="*/ 0 w 4389120"/>
              <a:gd name="csY0" fmla="*/ 0 h 1517455"/>
              <a:gd name="csX1" fmla="*/ 886968 w 4389120"/>
              <a:gd name="csY1" fmla="*/ 1371600 h 1517455"/>
              <a:gd name="csX2" fmla="*/ 4389120 w 4389120"/>
              <a:gd name="csY2" fmla="*/ 1508760 h 1517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89120" h="1517455">
                <a:moveTo>
                  <a:pt x="0" y="0"/>
                </a:moveTo>
                <a:cubicBezTo>
                  <a:pt x="18288" y="511302"/>
                  <a:pt x="155448" y="1123188"/>
                  <a:pt x="886968" y="1371600"/>
                </a:cubicBezTo>
                <a:cubicBezTo>
                  <a:pt x="1618488" y="1620012"/>
                  <a:pt x="3927348" y="1466088"/>
                  <a:pt x="4389120" y="1508760"/>
                </a:cubicBezTo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1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01B6-47B9-09D4-6EF9-FCFDDEDF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39DE81-8B9E-2752-134B-EA8BAEB1B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968" y="1290823"/>
            <a:ext cx="5806452" cy="427635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478E34-4F1B-7E97-FD09-6323FBE0BF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Results: A case study of Australia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3404A-C05A-0D7A-15F2-57C8F0A998D2}"/>
              </a:ext>
            </a:extLst>
          </p:cNvPr>
          <p:cNvSpPr txBox="1"/>
          <p:nvPr/>
        </p:nvSpPr>
        <p:spPr>
          <a:xfrm>
            <a:off x="667512" y="2468880"/>
            <a:ext cx="4297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Aside from a few outliers, it seems like there is an exponentially decreasing trend in forest-fire emissions with GDP.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D33226-1CE9-D442-4A05-2A84554D65D9}"/>
              </a:ext>
            </a:extLst>
          </p:cNvPr>
          <p:cNvSpPr/>
          <p:nvPr/>
        </p:nvSpPr>
        <p:spPr>
          <a:xfrm>
            <a:off x="10884408" y="1630680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22014-5301-D547-FD8D-148F4F194368}"/>
              </a:ext>
            </a:extLst>
          </p:cNvPr>
          <p:cNvSpPr txBox="1"/>
          <p:nvPr/>
        </p:nvSpPr>
        <p:spPr>
          <a:xfrm>
            <a:off x="8950458" y="2229535"/>
            <a:ext cx="123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Predicted outliers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1790A82-080F-70FB-FC92-C12C0510C7BE}"/>
              </a:ext>
            </a:extLst>
          </p:cNvPr>
          <p:cNvSpPr/>
          <p:nvPr/>
        </p:nvSpPr>
        <p:spPr>
          <a:xfrm>
            <a:off x="6839714" y="3218688"/>
            <a:ext cx="3904486" cy="1508760"/>
          </a:xfrm>
          <a:custGeom>
            <a:avLst/>
            <a:gdLst>
              <a:gd name="csX0" fmla="*/ 0 w 4389120"/>
              <a:gd name="csY0" fmla="*/ 0 h 1508760"/>
              <a:gd name="csX1" fmla="*/ 1400917 w 4389120"/>
              <a:gd name="csY1" fmla="*/ 1261872 h 1508760"/>
              <a:gd name="csX2" fmla="*/ 4389120 w 4389120"/>
              <a:gd name="csY2" fmla="*/ 1508760 h 1508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89120" h="1508760">
                <a:moveTo>
                  <a:pt x="0" y="0"/>
                </a:moveTo>
                <a:cubicBezTo>
                  <a:pt x="18288" y="511302"/>
                  <a:pt x="669397" y="1013460"/>
                  <a:pt x="1400917" y="1261872"/>
                </a:cubicBezTo>
                <a:cubicBezTo>
                  <a:pt x="2132437" y="1510284"/>
                  <a:pt x="3927348" y="1466088"/>
                  <a:pt x="4389120" y="1508760"/>
                </a:cubicBezTo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A1B343-4038-7FD8-3C16-0422E6BCF3D8}"/>
              </a:ext>
            </a:extLst>
          </p:cNvPr>
          <p:cNvSpPr/>
          <p:nvPr/>
        </p:nvSpPr>
        <p:spPr>
          <a:xfrm>
            <a:off x="10826496" y="3108960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8390D7-9A22-8BBD-ED0E-176D2453FA37}"/>
              </a:ext>
            </a:extLst>
          </p:cNvPr>
          <p:cNvSpPr/>
          <p:nvPr/>
        </p:nvSpPr>
        <p:spPr>
          <a:xfrm>
            <a:off x="6366514" y="4212336"/>
            <a:ext cx="473200" cy="2042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4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A2C-0F18-6C64-2C3B-B1AC29DB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06681A-8D97-CB1D-9683-1A34197E9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27" y="1290823"/>
            <a:ext cx="5565659" cy="427635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9B3B17-FC06-312F-271C-341802DE7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Results: A case study of Timor-Leste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E79EB-6D72-1203-A0A0-BF79891F67DE}"/>
              </a:ext>
            </a:extLst>
          </p:cNvPr>
          <p:cNvSpPr txBox="1"/>
          <p:nvPr/>
        </p:nvSpPr>
        <p:spPr>
          <a:xfrm>
            <a:off x="667512" y="2468880"/>
            <a:ext cx="429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some countries, the extent of forest fire emissions are independent of GDP</a:t>
            </a:r>
          </a:p>
        </p:txBody>
      </p:sp>
    </p:spTree>
    <p:extLst>
      <p:ext uri="{BB962C8B-B14F-4D97-AF65-F5344CB8AC3E}">
        <p14:creationId xmlns:p14="http://schemas.microsoft.com/office/powerpoint/2010/main" val="113211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C335-D812-703F-4C43-D02C8D11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B9C025-0D32-065D-4024-B46799690C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Results: Most recent timepoints have higher emissions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61AB4-08DA-86D6-E430-6255D9B1E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2143028"/>
            <a:ext cx="3451866" cy="2571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39E24C-2270-9057-44D0-670A9CB20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479" y="2143027"/>
            <a:ext cx="3395038" cy="2571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9F2275-3AA6-81E1-5AF2-9B8F464A1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11" y="2132900"/>
            <a:ext cx="3323849" cy="259219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B038BC8-1F43-8524-D4E0-ED9E5BAF025C}"/>
              </a:ext>
            </a:extLst>
          </p:cNvPr>
          <p:cNvSpPr/>
          <p:nvPr/>
        </p:nvSpPr>
        <p:spPr>
          <a:xfrm>
            <a:off x="10884408" y="2289048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1DC609-CA28-82B8-B532-8F981F2F5503}"/>
              </a:ext>
            </a:extLst>
          </p:cNvPr>
          <p:cNvSpPr/>
          <p:nvPr/>
        </p:nvSpPr>
        <p:spPr>
          <a:xfrm>
            <a:off x="7499599" y="2289048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4D7FA3-914D-1F83-9ACD-0A197F660AFE}"/>
              </a:ext>
            </a:extLst>
          </p:cNvPr>
          <p:cNvSpPr/>
          <p:nvPr/>
        </p:nvSpPr>
        <p:spPr>
          <a:xfrm>
            <a:off x="3893815" y="2295144"/>
            <a:ext cx="210312" cy="2194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2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FA7D-1F7C-F5B0-C0CF-B3C25B14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A48AE2-6874-00E6-3E5E-18F41CB8F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Methods: Creating one figure from scatter.py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0BC92-666C-75A3-B2F0-7BE16A15C436}"/>
              </a:ext>
            </a:extLst>
          </p:cNvPr>
          <p:cNvSpPr txBox="1"/>
          <p:nvPr/>
        </p:nvSpPr>
        <p:spPr>
          <a:xfrm>
            <a:off x="1598293" y="759484"/>
            <a:ext cx="899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 Denmark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4A414-FE43-B3FC-B988-A9D912352208}"/>
              </a:ext>
            </a:extLst>
          </p:cNvPr>
          <p:cNvSpPr txBox="1"/>
          <p:nvPr/>
        </p:nvSpPr>
        <p:spPr>
          <a:xfrm>
            <a:off x="1598293" y="3105834"/>
            <a:ext cx="8995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+mn-lt"/>
              </a:rPr>
              <a:t>python </a:t>
            </a:r>
            <a:r>
              <a:rPr lang="en-US" dirty="0">
                <a:solidFill>
                  <a:srgbClr val="7030A0"/>
                </a:solidFill>
                <a:latin typeface="+mn-lt"/>
              </a:rPr>
              <a:t>src/scatter.py </a:t>
            </a:r>
            <a:r>
              <a:rPr lang="en-US" dirty="0">
                <a:solidFill>
                  <a:srgbClr val="002060"/>
                </a:solidFill>
                <a:latin typeface="+mn-lt"/>
              </a:rPr>
              <a:t>--co2_file </a:t>
            </a:r>
            <a:r>
              <a:rPr lang="en-US" dirty="0">
                <a:solidFill>
                  <a:srgbClr val="0070C0"/>
                </a:solidFill>
                <a:latin typeface="+mn-lt"/>
              </a:rPr>
              <a:t>test/data/test_co2.csv </a:t>
            </a:r>
            <a:r>
              <a:rPr lang="en-US" dirty="0">
                <a:solidFill>
                  <a:srgbClr val="00B0F0"/>
                </a:solidFill>
                <a:latin typeface="+mn-lt"/>
              </a:rPr>
              <a:t>--</a:t>
            </a:r>
            <a:r>
              <a:rPr lang="en-US" dirty="0" err="1">
                <a:solidFill>
                  <a:srgbClr val="00B0F0"/>
                </a:solidFill>
                <a:latin typeface="+mn-lt"/>
              </a:rPr>
              <a:t>gdp_file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solidFill>
                  <a:srgbClr val="00B050"/>
                </a:solidFill>
                <a:latin typeface="+mn-lt"/>
              </a:rPr>
              <a:t>test/data/test_gdp.csv </a:t>
            </a:r>
            <a:r>
              <a:rPr lang="en-US" dirty="0">
                <a:solidFill>
                  <a:srgbClr val="92D050"/>
                </a:solidFill>
                <a:latin typeface="+mn-lt"/>
              </a:rPr>
              <a:t>--country 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"Denmark"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--output </a:t>
            </a:r>
            <a:r>
              <a:rPr lang="en-US" dirty="0">
                <a:latin typeface="+mn-lt"/>
              </a:rPr>
              <a:t>figures/denmark.png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89C43-406A-BA7D-39A2-09C08F506D05}"/>
              </a:ext>
            </a:extLst>
          </p:cNvPr>
          <p:cNvSpPr txBox="1"/>
          <p:nvPr/>
        </p:nvSpPr>
        <p:spPr>
          <a:xfrm>
            <a:off x="283464" y="2049516"/>
            <a:ext cx="284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scatter.py file location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6A80E3-4BB7-7ED0-0D75-861710A8386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705356" y="2418848"/>
            <a:ext cx="1122616" cy="76326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73D58E-4FB9-C703-5990-2C1256FF46D6}"/>
              </a:ext>
            </a:extLst>
          </p:cNvPr>
          <p:cNvSpPr txBox="1"/>
          <p:nvPr/>
        </p:nvSpPr>
        <p:spPr>
          <a:xfrm>
            <a:off x="2231136" y="2274837"/>
            <a:ext cx="2843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emission file input parameter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C21C70-9224-BD63-419E-CBF322DAF2E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653028" y="2921168"/>
            <a:ext cx="461772" cy="26094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0BE6D4-EEE1-16A4-952B-B07F2D8164E1}"/>
              </a:ext>
            </a:extLst>
          </p:cNvPr>
          <p:cNvSpPr txBox="1"/>
          <p:nvPr/>
        </p:nvSpPr>
        <p:spPr>
          <a:xfrm>
            <a:off x="3883914" y="1901193"/>
            <a:ext cx="284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emission file location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3B6176-88B4-9C63-C37F-5C0CFB78EF6B}"/>
              </a:ext>
            </a:extLst>
          </p:cNvPr>
          <p:cNvCxnSpPr>
            <a:stCxn id="14" idx="2"/>
          </p:cNvCxnSpPr>
          <p:nvPr/>
        </p:nvCxnSpPr>
        <p:spPr>
          <a:xfrm>
            <a:off x="5305806" y="2270525"/>
            <a:ext cx="345186" cy="83530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60A3A64-A834-8CA6-88C7-E5A12CADE111}"/>
              </a:ext>
            </a:extLst>
          </p:cNvPr>
          <p:cNvSpPr txBox="1"/>
          <p:nvPr/>
        </p:nvSpPr>
        <p:spPr>
          <a:xfrm>
            <a:off x="6541010" y="1911016"/>
            <a:ext cx="226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GDP file input parameter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1EF145-C9D5-A2AC-4023-7FF10E5634D9}"/>
              </a:ext>
            </a:extLst>
          </p:cNvPr>
          <p:cNvCxnSpPr>
            <a:stCxn id="20" idx="2"/>
          </p:cNvCxnSpPr>
          <p:nvPr/>
        </p:nvCxnSpPr>
        <p:spPr>
          <a:xfrm>
            <a:off x="7674866" y="2557347"/>
            <a:ext cx="0" cy="54848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C798451-2A46-817B-F252-FE64771F538C}"/>
              </a:ext>
            </a:extLst>
          </p:cNvPr>
          <p:cNvSpPr txBox="1"/>
          <p:nvPr/>
        </p:nvSpPr>
        <p:spPr>
          <a:xfrm>
            <a:off x="9007604" y="2235055"/>
            <a:ext cx="226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GDP file location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939B0E-EBC8-9A4C-FCD4-1845CC996C10}"/>
              </a:ext>
            </a:extLst>
          </p:cNvPr>
          <p:cNvCxnSpPr>
            <a:stCxn id="24" idx="2"/>
          </p:cNvCxnSpPr>
          <p:nvPr/>
        </p:nvCxnSpPr>
        <p:spPr>
          <a:xfrm flipH="1">
            <a:off x="9363456" y="2604387"/>
            <a:ext cx="778004" cy="5014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CC6940-0552-1F57-C544-902DA92A9F91}"/>
              </a:ext>
            </a:extLst>
          </p:cNvPr>
          <p:cNvSpPr txBox="1"/>
          <p:nvPr/>
        </p:nvSpPr>
        <p:spPr>
          <a:xfrm>
            <a:off x="70104" y="4541682"/>
            <a:ext cx="2843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Country name input parameter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864A3B-01A6-9234-B772-2B8B05E04992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491996" y="3685032"/>
            <a:ext cx="638556" cy="8566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6DA7B5-A5B8-BF08-66D9-551C4DB0964A}"/>
              </a:ext>
            </a:extLst>
          </p:cNvPr>
          <p:cNvSpPr txBox="1"/>
          <p:nvPr/>
        </p:nvSpPr>
        <p:spPr>
          <a:xfrm>
            <a:off x="1811274" y="4115986"/>
            <a:ext cx="284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Country name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6065A0-B1F2-2DAE-6A20-F608B6A6703B}"/>
              </a:ext>
            </a:extLst>
          </p:cNvPr>
          <p:cNvCxnSpPr>
            <a:stCxn id="33" idx="0"/>
          </p:cNvCxnSpPr>
          <p:nvPr/>
        </p:nvCxnSpPr>
        <p:spPr>
          <a:xfrm flipV="1">
            <a:off x="3233166" y="3752165"/>
            <a:ext cx="0" cy="36382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591FD6D-9553-A8DB-D0DF-C8F1DD0C4706}"/>
              </a:ext>
            </a:extLst>
          </p:cNvPr>
          <p:cNvSpPr txBox="1"/>
          <p:nvPr/>
        </p:nvSpPr>
        <p:spPr>
          <a:xfrm>
            <a:off x="3697226" y="4617960"/>
            <a:ext cx="2843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image name input parameter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D2BA14-2C8C-17F6-6E34-5F8545FC455B}"/>
              </a:ext>
            </a:extLst>
          </p:cNvPr>
          <p:cNvCxnSpPr>
            <a:stCxn id="37" idx="0"/>
          </p:cNvCxnSpPr>
          <p:nvPr/>
        </p:nvCxnSpPr>
        <p:spPr>
          <a:xfrm flipH="1" flipV="1">
            <a:off x="4453128" y="3752165"/>
            <a:ext cx="665990" cy="865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AEE8EAF-7895-5E9A-E3B1-13A430A833A4}"/>
              </a:ext>
            </a:extLst>
          </p:cNvPr>
          <p:cNvSpPr txBox="1"/>
          <p:nvPr/>
        </p:nvSpPr>
        <p:spPr>
          <a:xfrm>
            <a:off x="6252974" y="4113357"/>
            <a:ext cx="261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output location and format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6A814FE-A247-D9DB-4BE3-B58F48C8839F}"/>
              </a:ext>
            </a:extLst>
          </p:cNvPr>
          <p:cNvCxnSpPr>
            <a:stCxn id="41" idx="0"/>
          </p:cNvCxnSpPr>
          <p:nvPr/>
        </p:nvCxnSpPr>
        <p:spPr>
          <a:xfrm flipH="1" flipV="1">
            <a:off x="6821424" y="3752165"/>
            <a:ext cx="736856" cy="361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1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7DC474-1270-831F-BF15-1F20F869F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Methods: Figures for every country generated via batch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B8A13-AD6E-4AFC-BD25-93D2C5755C9E}"/>
              </a:ext>
            </a:extLst>
          </p:cNvPr>
          <p:cNvSpPr txBox="1"/>
          <p:nvPr/>
        </p:nvSpPr>
        <p:spPr>
          <a:xfrm>
            <a:off x="1598293" y="1300654"/>
            <a:ext cx="89954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/f "</a:t>
            </a:r>
            <a:r>
              <a:rPr lang="en-US" dirty="0" err="1"/>
              <a:t>delims</a:t>
            </a:r>
            <a:r>
              <a:rPr lang="en-US" dirty="0"/>
              <a:t>=" %C in ('python -c "import csv; print('\</a:t>
            </a:r>
            <a:r>
              <a:rPr lang="en-US" dirty="0" err="1"/>
              <a:t>n'.join</a:t>
            </a:r>
            <a:r>
              <a:rPr lang="en-US" dirty="0"/>
              <a:t>(sorted({r['Area'] for r in </a:t>
            </a:r>
            <a:r>
              <a:rPr lang="en-US" dirty="0" err="1"/>
              <a:t>csv.DictReader</a:t>
            </a:r>
            <a:r>
              <a:rPr lang="en-US" dirty="0"/>
              <a:t>(open('data/Agrofood_co2_emission.csv', encoding='utf-8-sig'))})))"') do @python src/scatter.py --co2_file data/Agrofood_co2_emission.csv --</a:t>
            </a:r>
            <a:r>
              <a:rPr lang="en-US" dirty="0" err="1"/>
              <a:t>gdp_file</a:t>
            </a:r>
            <a:r>
              <a:rPr lang="en-US" dirty="0"/>
              <a:t> data/IMF_GDP.csv --country "%C" --output "figures/%C.png"</a:t>
            </a:r>
          </a:p>
        </p:txBody>
      </p:sp>
    </p:spTree>
    <p:extLst>
      <p:ext uri="{BB962C8B-B14F-4D97-AF65-F5344CB8AC3E}">
        <p14:creationId xmlns:p14="http://schemas.microsoft.com/office/powerpoint/2010/main" val="423363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317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Pugsley</dc:creator>
  <cp:lastModifiedBy>Conor Pugsley</cp:lastModifiedBy>
  <cp:revision>9</cp:revision>
  <dcterms:created xsi:type="dcterms:W3CDTF">2026-09-01T23:55:33Z</dcterms:created>
  <dcterms:modified xsi:type="dcterms:W3CDTF">2026-10-10T01:52:24Z</dcterms:modified>
</cp:coreProperties>
</file>